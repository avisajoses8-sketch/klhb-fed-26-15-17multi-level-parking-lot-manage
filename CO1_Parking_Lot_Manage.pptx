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1 Deck" id="{88b48801-cffb-6e0d-73b9-534f217d8d2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course (26SC1101E) and the focus of this deck: Course Outcome 1, From Problem to Program, applied to our Multi-Level Parking Lot Manage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details, guide, repository and commit count, as required on the evaluation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CO1 is mapped to Bloom's level 3 (Apply). The rubric scores 4/3/2/1 and the checklist awards 20/16/12/8 marks for this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real-world problem first. Then break it into inputs, processing and outputs. That decomposition is the first step of going from problem to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write the algorithm in plain steps and pseudocode before touching Java. Each step becomes one or two lines of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constants, LEVELS = 3 and SLOTS_PER_LEVEL = 5, come from our repository's javaprojectpartone class. Constants use final so the lot layout cannot change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worked example on the slide. The slot 12 result shows how integer division and modulus map a single slot number to level 3, slot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Scanner reads input from the keyboard. printf formats the receipt. Note that sc.next().charAt(0) reads the vehicle type, and toUpperCase makes b and B equivalent.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rate is chosen from the vehicle type, then three test cases confirm the maths: a normal member case, a short stay and a stay just over one hour in the last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mapping each CO1 criterion to evidence in the project, then point to the repository. Later outcomes (loops, methods, exceptions, constructors) build on this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B2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17  |  Multi-Level Parking Lot Manage  |  CO1: From Problem to Program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visajoses8-sketch/KLHB-FED-26-15-17Multi-Level-Parking-Lot-Manage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visajoses8-sketch/KLHB-FED-26-15-17Multi-Level-Parking-Lot-Manage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Freshmen Engineering Department  |  A.Y 2026-27, Trimester I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Multi-Level Parking Lot Manage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CO1: From Problem to Program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26SC1101E  Problem Solving Using Programming (JAVA)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Joses  (2620030554)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 (2020030177)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17   |   Guide: Sreeram</a:t>
            </a:r>
            <a:endParaRPr lang="en-US" sz="1400" dirty="0"/>
          </a:p>
        </p:txBody>
      </p:sp>
      <p:sp>
        <p:nvSpPr>
          <p:cNvPr id="8" name="Parking sign"/>
          <p:cNvSpPr/>
          <p:nvPr/>
        </p:nvSpPr>
        <p:spPr>
          <a:xfrm>
            <a:off x="6309360" y="1097280"/>
            <a:ext cx="2286000" cy="228600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309360" y="10972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000" dirty="0"/>
          </a:p>
        </p:txBody>
      </p:sp>
      <p:sp>
        <p:nvSpPr>
          <p:cNvPr id="10" name="Level 1"/>
          <p:cNvSpPr/>
          <p:nvPr/>
        </p:nvSpPr>
        <p:spPr>
          <a:xfrm>
            <a:off x="6309360" y="3611880"/>
            <a:ext cx="228600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6118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</p:txBody>
      </p:sp>
      <p:sp>
        <p:nvSpPr>
          <p:cNvPr id="12" name="Slot 1-1"/>
          <p:cNvSpPr/>
          <p:nvPr/>
        </p:nvSpPr>
        <p:spPr>
          <a:xfrm>
            <a:off x="7223760" y="3675888"/>
            <a:ext cx="20116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lot 1-2"/>
          <p:cNvSpPr/>
          <p:nvPr/>
        </p:nvSpPr>
        <p:spPr>
          <a:xfrm>
            <a:off x="7488936" y="3675888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lot 1-3"/>
          <p:cNvSpPr/>
          <p:nvPr/>
        </p:nvSpPr>
        <p:spPr>
          <a:xfrm>
            <a:off x="7754112" y="3675888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lot 1-4"/>
          <p:cNvSpPr/>
          <p:nvPr/>
        </p:nvSpPr>
        <p:spPr>
          <a:xfrm>
            <a:off x="8019288" y="3675888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lot 1-5"/>
          <p:cNvSpPr/>
          <p:nvPr/>
        </p:nvSpPr>
        <p:spPr>
          <a:xfrm>
            <a:off x="8284464" y="3675888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Level 2"/>
          <p:cNvSpPr/>
          <p:nvPr/>
        </p:nvSpPr>
        <p:spPr>
          <a:xfrm>
            <a:off x="6309360" y="3995928"/>
            <a:ext cx="228600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99592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</p:txBody>
      </p:sp>
      <p:sp>
        <p:nvSpPr>
          <p:cNvPr id="19" name="Slot 2-1"/>
          <p:cNvSpPr/>
          <p:nvPr/>
        </p:nvSpPr>
        <p:spPr>
          <a:xfrm>
            <a:off x="7223760" y="4059936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lot 2-2"/>
          <p:cNvSpPr/>
          <p:nvPr/>
        </p:nvSpPr>
        <p:spPr>
          <a:xfrm>
            <a:off x="7488936" y="4059936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lot 2-3"/>
          <p:cNvSpPr/>
          <p:nvPr/>
        </p:nvSpPr>
        <p:spPr>
          <a:xfrm>
            <a:off x="7754112" y="4059936"/>
            <a:ext cx="20116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lot 2-4"/>
          <p:cNvSpPr/>
          <p:nvPr/>
        </p:nvSpPr>
        <p:spPr>
          <a:xfrm>
            <a:off x="8019288" y="4059936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lot 2-5"/>
          <p:cNvSpPr/>
          <p:nvPr/>
        </p:nvSpPr>
        <p:spPr>
          <a:xfrm>
            <a:off x="8284464" y="4059936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Level 3"/>
          <p:cNvSpPr/>
          <p:nvPr/>
        </p:nvSpPr>
        <p:spPr>
          <a:xfrm>
            <a:off x="6309360" y="4379976"/>
            <a:ext cx="228600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3799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00" dirty="0"/>
          </a:p>
        </p:txBody>
      </p:sp>
      <p:sp>
        <p:nvSpPr>
          <p:cNvPr id="26" name="Slot 3-1"/>
          <p:cNvSpPr/>
          <p:nvPr/>
        </p:nvSpPr>
        <p:spPr>
          <a:xfrm>
            <a:off x="7223760" y="4443984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Slot 3-2"/>
          <p:cNvSpPr/>
          <p:nvPr/>
        </p:nvSpPr>
        <p:spPr>
          <a:xfrm>
            <a:off x="7488936" y="4443984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lot 3-3"/>
          <p:cNvSpPr/>
          <p:nvPr/>
        </p:nvSpPr>
        <p:spPr>
          <a:xfrm>
            <a:off x="7754112" y="4443984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Slot 3-4"/>
          <p:cNvSpPr/>
          <p:nvPr/>
        </p:nvSpPr>
        <p:spPr>
          <a:xfrm>
            <a:off x="8019288" y="4443984"/>
            <a:ext cx="20116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Slot 3-5"/>
          <p:cNvSpPr/>
          <p:nvPr/>
        </p:nvSpPr>
        <p:spPr>
          <a:xfrm>
            <a:off x="8284464" y="4443984"/>
            <a:ext cx="201168" cy="182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3000" dirty="0"/>
          </a:p>
        </p:txBody>
      </p:sp>
      <p:sp>
        <p:nvSpPr>
          <p:cNvPr id="4" name="Student 1"/>
          <p:cNvSpPr/>
          <p:nvPr/>
        </p:nvSpPr>
        <p:spPr>
          <a:xfrm>
            <a:off x="457200" y="10972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Initials 1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 Joses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2620030554</a:t>
            </a:r>
            <a:endParaRPr lang="en-US" sz="1400" dirty="0"/>
          </a:p>
        </p:txBody>
      </p:sp>
      <p:sp>
        <p:nvSpPr>
          <p:cNvPr id="9" name="Student 2"/>
          <p:cNvSpPr/>
          <p:nvPr/>
        </p:nvSpPr>
        <p:spPr>
          <a:xfrm>
            <a:off x="4663440" y="109728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0" name="Initials 2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Bhavya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2020030177</a:t>
            </a:r>
            <a:endParaRPr lang="en-US" sz="1400" dirty="0"/>
          </a:p>
        </p:txBody>
      </p:sp>
      <p:sp>
        <p:nvSpPr>
          <p:cNvPr id="14" name="Stat Team No"/>
          <p:cNvSpPr/>
          <p:nvPr/>
        </p:nvSpPr>
        <p:spPr>
          <a:xfrm>
            <a:off x="45720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57200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898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</a:t>
            </a:r>
            <a:endParaRPr lang="en-US" sz="1300" dirty="0"/>
          </a:p>
        </p:txBody>
      </p:sp>
      <p:sp>
        <p:nvSpPr>
          <p:cNvPr id="17" name="Stat Commits"/>
          <p:cNvSpPr/>
          <p:nvPr/>
        </p:nvSpPr>
        <p:spPr>
          <a:xfrm>
            <a:off x="256032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560320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2898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</p:txBody>
      </p:sp>
      <p:sp>
        <p:nvSpPr>
          <p:cNvPr id="20" name="Stat Guide"/>
          <p:cNvSpPr/>
          <p:nvPr/>
        </p:nvSpPr>
        <p:spPr>
          <a:xfrm>
            <a:off x="466344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663440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Sreeram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2898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300" dirty="0"/>
          </a:p>
        </p:txBody>
      </p:sp>
      <p:sp>
        <p:nvSpPr>
          <p:cNvPr id="23" name="Stat Course Code"/>
          <p:cNvSpPr/>
          <p:nvPr/>
        </p:nvSpPr>
        <p:spPr>
          <a:xfrm>
            <a:off x="6766560" y="2240280"/>
            <a:ext cx="19659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766560" y="2331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26SC1101E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2898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300" dirty="0"/>
          </a:p>
        </p:txBody>
      </p:sp>
      <p:sp>
        <p:nvSpPr>
          <p:cNvPr id="26" name="Project title card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685800" y="3593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38130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Multi-Level-Parking-Lot-Manage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100" u="sng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https://github.com/avisajoses8-sketch/KLHB-FED-26-15-17Multi-Level-Parking-Lot-Manage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CO1 and How It Is Evaluated</a:t>
            </a:r>
            <a:endParaRPr lang="en-US" sz="3000" dirty="0"/>
          </a:p>
        </p:txBody>
      </p:sp>
      <p:sp>
        <p:nvSpPr>
          <p:cNvPr id="4" name="CO1 card"/>
          <p:cNvSpPr/>
          <p:nvPr/>
        </p:nvSpPr>
        <p:spPr>
          <a:xfrm>
            <a:off x="457200" y="1097280"/>
            <a:ext cx="8229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BTL3 badge"/>
          <p:cNvSpPr/>
          <p:nvPr/>
        </p:nvSpPr>
        <p:spPr>
          <a:xfrm>
            <a:off x="685800" y="1371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BTL3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207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CO1  From Problem to Program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600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 by this project:</a:t>
            </a:r>
            <a:endParaRPr lang="en-US" sz="1400" dirty="0"/>
          </a:p>
        </p:txBody>
      </p:sp>
      <p:sp>
        <p:nvSpPr>
          <p:cNvPr id="9" name="Chip Algorithm"/>
          <p:cNvSpPr/>
          <p:nvPr/>
        </p:nvSpPr>
        <p:spPr>
          <a:xfrm>
            <a:off x="1645920" y="1920240"/>
            <a:ext cx="16002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64592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1" name="Chip Data types"/>
          <p:cNvSpPr/>
          <p:nvPr/>
        </p:nvSpPr>
        <p:spPr>
          <a:xfrm>
            <a:off x="3383280" y="1920240"/>
            <a:ext cx="16002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00" dirty="0"/>
          </a:p>
        </p:txBody>
      </p:sp>
      <p:sp>
        <p:nvSpPr>
          <p:cNvPr id="13" name="Chip Expressions"/>
          <p:cNvSpPr/>
          <p:nvPr/>
        </p:nvSpPr>
        <p:spPr>
          <a:xfrm>
            <a:off x="5120640" y="1920240"/>
            <a:ext cx="16002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2064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</a:t>
            </a:r>
            <a:endParaRPr lang="en-US" sz="1300" dirty="0"/>
          </a:p>
        </p:txBody>
      </p:sp>
      <p:sp>
        <p:nvSpPr>
          <p:cNvPr id="15" name="Chip Input / Output"/>
          <p:cNvSpPr/>
          <p:nvPr/>
        </p:nvSpPr>
        <p:spPr>
          <a:xfrm>
            <a:off x="6858000" y="1920240"/>
            <a:ext cx="1600200" cy="34747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0" y="19202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55448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for CO1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concepts correctly: algorithm, types, expressions, I/O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Improvement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implement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30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in multi-level lots is slow and error-prone. Attendants guess which slots are free and work out fees by hand, causing queues and billing mistakes. We need a program that takes a vehicle's details and returns its parking location and an itemised fee.</a:t>
            </a:r>
            <a:endParaRPr lang="en-US" sz="1400" dirty="0"/>
          </a:p>
        </p:txBody>
      </p:sp>
      <p:sp>
        <p:nvSpPr>
          <p:cNvPr id="6" name="Inputs card"/>
          <p:cNvSpPr/>
          <p:nvPr/>
        </p:nvSpPr>
        <p:spPr>
          <a:xfrm>
            <a:off x="457200" y="242316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7" name="Inputs badge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596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number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(B/C/T)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parked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number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or not</a:t>
            </a:r>
            <a:endParaRPr lang="en-US" sz="1400" dirty="0"/>
          </a:p>
        </p:txBody>
      </p:sp>
      <p:sp>
        <p:nvSpPr>
          <p:cNvPr id="11" name="Processing card"/>
          <p:cNvSpPr/>
          <p:nvPr/>
        </p:nvSpPr>
        <p:spPr>
          <a:xfrm>
            <a:off x="3291840" y="242316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2" name="Processing badge"/>
          <p:cNvSpPr/>
          <p:nvPr/>
        </p:nvSpPr>
        <p:spPr>
          <a:xfrm>
            <a:off x="3474720" y="2560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2596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hourly rate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up to whole hours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to level + slot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member discount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18% GST</a:t>
            </a:r>
            <a:endParaRPr lang="en-US" sz="1400" dirty="0"/>
          </a:p>
        </p:txBody>
      </p:sp>
      <p:sp>
        <p:nvSpPr>
          <p:cNvPr id="16" name="Outputs card"/>
          <p:cNvSpPr/>
          <p:nvPr/>
        </p:nvSpPr>
        <p:spPr>
          <a:xfrm>
            <a:off x="6126480" y="2423160"/>
            <a:ext cx="25603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7" name="Outputs badge"/>
          <p:cNvSpPr/>
          <p:nvPr/>
        </p:nvSpPr>
        <p:spPr>
          <a:xfrm>
            <a:off x="6309360" y="2560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259689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0632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number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and slot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billed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discount, GST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Algorithm</a:t>
            </a:r>
            <a:endParaRPr lang="en-US" sz="3000" dirty="0"/>
          </a:p>
        </p:txBody>
      </p:sp>
      <p:sp>
        <p:nvSpPr>
          <p:cNvPr id="4" name="Step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vehicle details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457200" y="15910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591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rate by vehicle type</a:t>
            </a:r>
            <a:endParaRPr lang="en-US" sz="1400" dirty="0"/>
          </a:p>
        </p:txBody>
      </p:sp>
      <p:sp>
        <p:nvSpPr>
          <p:cNvPr id="10" name="Step 3"/>
          <p:cNvSpPr/>
          <p:nvPr/>
        </p:nvSpPr>
        <p:spPr>
          <a:xfrm>
            <a:off x="457200" y="208483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084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minutes up to hours</a:t>
            </a:r>
            <a:endParaRPr lang="en-US" sz="1400" dirty="0"/>
          </a:p>
        </p:txBody>
      </p:sp>
      <p:sp>
        <p:nvSpPr>
          <p:cNvPr id="13" name="Step 4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578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slot number to level and slot</a:t>
            </a:r>
            <a:endParaRPr lang="en-US" sz="1400" dirty="0"/>
          </a:p>
        </p:txBody>
      </p:sp>
      <p:sp>
        <p:nvSpPr>
          <p:cNvPr id="16" name="Step 5"/>
          <p:cNvSpPr/>
          <p:nvPr/>
        </p:nvSpPr>
        <p:spPr>
          <a:xfrm>
            <a:off x="457200" y="307238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072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base fee</a:t>
            </a:r>
            <a:endParaRPr lang="en-US" sz="1400" dirty="0"/>
          </a:p>
        </p:txBody>
      </p:sp>
      <p:sp>
        <p:nvSpPr>
          <p:cNvPr id="19" name="Step 6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discount and add GST</a:t>
            </a:r>
            <a:endParaRPr lang="en-US" sz="1400" dirty="0"/>
          </a:p>
        </p:txBody>
      </p:sp>
      <p:sp>
        <p:nvSpPr>
          <p:cNvPr id="22" name="Step 7"/>
          <p:cNvSpPr/>
          <p:nvPr/>
        </p:nvSpPr>
        <p:spPr>
          <a:xfrm>
            <a:off x="457200" y="4059936"/>
            <a:ext cx="365760" cy="3657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4059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receipt</a:t>
            </a:r>
            <a:endParaRPr lang="en-US" sz="1400" dirty="0"/>
          </a:p>
        </p:txBody>
      </p:sp>
      <p:sp>
        <p:nvSpPr>
          <p:cNvPr id="25" name="Pseudocode"/>
          <p:cNvSpPr/>
          <p:nvPr/>
        </p:nvSpPr>
        <p:spPr>
          <a:xfrm>
            <a:off x="4389120" y="1097280"/>
            <a:ext cx="429768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572000" y="1188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0" y="14630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vehicleNo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and Constants</a:t>
            </a:r>
            <a:endParaRPr lang="en-US" sz="3000" dirty="0"/>
          </a:p>
        </p:txBody>
      </p:sp>
      <p:sp>
        <p:nvSpPr>
          <p:cNvPr id="4" name="Declarations"/>
          <p:cNvSpPr/>
          <p:nvPr/>
        </p:nvSpPr>
        <p:spPr>
          <a:xfrm>
            <a:off x="457200" y="1097280"/>
            <a:ext cx="4572000" cy="338328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ParkingFee.java  -  declarations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4251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SLOTS_PER_LEVEL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TOTAL_SLOTS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SLOTS_PER_LEVEL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GST_RATE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vehicleNo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B39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39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'B', 'C' or 'T'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slotNo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100" dirty="0">
                <a:solidFill>
                  <a:srgbClr val="B39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discount flag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97280"/>
          <a:ext cx="33832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levels, slots, minutes,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double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rate, fee, GST, total (money)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type: B, C or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flag (true / false)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that never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30352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uses double so GST gives paise, not whole rupees.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 and Operators</a:t>
            </a:r>
            <a:endParaRPr lang="en-US" sz="3000" dirty="0"/>
          </a:p>
        </p:txBody>
      </p:sp>
      <p:sp>
        <p:nvSpPr>
          <p:cNvPr id="4" name="Expressions"/>
          <p:cNvSpPr/>
          <p:nvPr/>
        </p:nvSpPr>
        <p:spPr>
          <a:xfrm>
            <a:off x="457200" y="1097280"/>
            <a:ext cx="4937760" cy="1965960"/>
          </a:xfrm>
          <a:prstGeom prst="roundRect">
            <a:avLst>
              <a:gd name="adj" fmla="val 372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ParkingFee.java  -  calculations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slotNo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SLOTS_PER_LEVEL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slotOnLevel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slotNo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SLOTS_PER_LEVEL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GST_RATE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Worked example"/>
          <p:cNvSpPr/>
          <p:nvPr/>
        </p:nvSpPr>
        <p:spPr>
          <a:xfrm>
            <a:off x="457200" y="3246120"/>
            <a:ext cx="49377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3319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Car, 135 min, slot 12, member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63931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= ceil(2.25) = 3     base = 3 x 30 = 90.00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= 11 / 5 + 1 = 3     slot = 11 % 5 + 1 =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= 9.00     GST = 81 x 0.18 = 14.58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95.58</a:t>
            </a:r>
            <a:endParaRPr lang="en-US" sz="1400" dirty="0"/>
          </a:p>
        </p:txBody>
      </p:sp>
      <p:sp>
        <p:nvSpPr>
          <p:cNvPr id="10" name="Tip 1"/>
          <p:cNvSpPr/>
          <p:nvPr/>
        </p:nvSpPr>
        <p:spPr>
          <a:xfrm>
            <a:off x="5623560" y="1097280"/>
            <a:ext cx="3063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760720" y="11704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 and ceil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4813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60.0 keeps the decimals, so 61 minutes bills 2 hours.</a:t>
            </a:r>
            <a:endParaRPr lang="en-US" sz="1400" dirty="0"/>
          </a:p>
        </p:txBody>
      </p:sp>
      <p:sp>
        <p:nvSpPr>
          <p:cNvPr id="13" name="Tip 2"/>
          <p:cNvSpPr/>
          <p:nvPr/>
        </p:nvSpPr>
        <p:spPr>
          <a:xfrm>
            <a:off x="5623560" y="2267712"/>
            <a:ext cx="3063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760720" y="234086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and %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gives the level, the remainder gives the slot.</a:t>
            </a:r>
            <a:endParaRPr lang="en-US" sz="1400" dirty="0"/>
          </a:p>
        </p:txBody>
      </p:sp>
      <p:sp>
        <p:nvSpPr>
          <p:cNvPr id="16" name="Tip 3"/>
          <p:cNvSpPr/>
          <p:nvPr/>
        </p:nvSpPr>
        <p:spPr>
          <a:xfrm>
            <a:off x="5623560" y="3438144"/>
            <a:ext cx="3063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760720" y="351129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Ternary and brackets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760720" y="38221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? a : b replaces an if-else, and brackets set the order.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and Output</a:t>
            </a:r>
            <a:endParaRPr lang="en-US" sz="3000" dirty="0"/>
          </a:p>
        </p:txBody>
      </p:sp>
      <p:sp>
        <p:nvSpPr>
          <p:cNvPr id="4" name="Input code"/>
          <p:cNvSpPr/>
          <p:nvPr/>
        </p:nvSpPr>
        <p:spPr>
          <a:xfrm>
            <a:off x="457200" y="1097280"/>
            <a:ext cx="512064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-  Scanner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"Vehicle number : "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vehicleNo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nextLine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 (B/C/T)   : "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"Minutes parked : "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nextInt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Output code"/>
          <p:cNvSpPr/>
          <p:nvPr/>
        </p:nvSpPr>
        <p:spPr>
          <a:xfrm>
            <a:off x="457200" y="3108960"/>
            <a:ext cx="51206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32004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-  printf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4747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"---- PARKING RECEIPT ----"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    : Rs. %.2f%n"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6D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   : Rs. %.2f%n"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Sample receipt"/>
          <p:cNvSpPr/>
          <p:nvPr/>
        </p:nvSpPr>
        <p:spPr>
          <a:xfrm>
            <a:off x="5760720" y="1097280"/>
            <a:ext cx="292608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943600" y="1188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RECEIPT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481328"/>
            <a:ext cx="2697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 PARKING RECEIPT ----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: TS09AB1234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Level 3, Slot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Hours   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   : Rs. 90.00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Discount: Rs. 9.00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 18% : Rs. 14.58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  : Rs. 95.58</a:t>
            </a:r>
            <a:endParaRPr lang="en-US" sz="1050" dirty="0"/>
          </a:p>
        </p:txBody>
      </p:sp>
      <p:sp>
        <p:nvSpPr>
          <p:cNvPr id="13" name="Format note"/>
          <p:cNvSpPr/>
          <p:nvPr/>
        </p:nvSpPr>
        <p:spPr>
          <a:xfrm>
            <a:off x="5760720" y="3794760"/>
            <a:ext cx="29260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3600" y="3840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%.2f  two decimals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%n  new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Together: Test Cases</a:t>
            </a:r>
            <a:endParaRPr lang="en-US" sz="3000" dirty="0"/>
          </a:p>
        </p:txBody>
      </p:sp>
      <p:sp>
        <p:nvSpPr>
          <p:cNvPr id="4" name="Rate selection"/>
          <p:cNvSpPr/>
          <p:nvPr/>
        </p:nvSpPr>
        <p:spPr>
          <a:xfrm>
            <a:off x="457200" y="1097280"/>
            <a:ext cx="420624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SELECTION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6304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39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 = Bike, C = Car, T = Truck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60.0</a:t>
            </a:r>
            <a:pPr indent="0" marL="0">
              <a:buNone/>
            </a:pPr>
            <a:r>
              <a:rPr lang="en-US" sz="1100" dirty="0">
                <a:solidFill>
                  <a:srgbClr val="FBF5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7" name="Why these tests"/>
          <p:cNvSpPr/>
          <p:nvPr/>
        </p:nvSpPr>
        <p:spPr>
          <a:xfrm>
            <a:off x="4892040" y="1097280"/>
            <a:ext cx="3794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07492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cases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15087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member case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 hour still bills 1 hour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minutes bills 2 hours, last slot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822960"/>
                <a:gridCol w="18288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(type, minutes, slot, member)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F5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4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135 min, slot 12,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3, Slot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95.58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B, 50 min, slot 3, non-member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1, Slot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11.80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T, 61 min, slot 15, non-member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3, Slot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5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141.60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results were produced by compiling and running the program.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CO1 Achieved</a:t>
            </a:r>
            <a:endParaRPr lang="en-US" sz="3000" dirty="0"/>
          </a:p>
        </p:txBody>
      </p:sp>
      <p:sp>
        <p:nvSpPr>
          <p:cNvPr id="4" name="Summary Algorithm"/>
          <p:cNvSpPr/>
          <p:nvPr/>
        </p:nvSpPr>
        <p:spPr>
          <a:xfrm>
            <a:off x="45720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5" name="Tick 1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and pseudocode before code</a:t>
            </a:r>
            <a:endParaRPr lang="en-US" sz="1400" dirty="0"/>
          </a:p>
        </p:txBody>
      </p:sp>
      <p:sp>
        <p:nvSpPr>
          <p:cNvPr id="9" name="Summary Data types"/>
          <p:cNvSpPr/>
          <p:nvPr/>
        </p:nvSpPr>
        <p:spPr>
          <a:xfrm>
            <a:off x="4663440" y="109728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0" name="Tick 2"/>
          <p:cNvSpPr/>
          <p:nvPr/>
        </p:nvSpPr>
        <p:spPr>
          <a:xfrm>
            <a:off x="4846320" y="13441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1572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double, char, String, boolean, final</a:t>
            </a:r>
            <a:endParaRPr lang="en-US" sz="1400" dirty="0"/>
          </a:p>
        </p:txBody>
      </p:sp>
      <p:sp>
        <p:nvSpPr>
          <p:cNvPr id="14" name="Summary Expressions"/>
          <p:cNvSpPr/>
          <p:nvPr/>
        </p:nvSpPr>
        <p:spPr>
          <a:xfrm>
            <a:off x="457200" y="21945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15" name="Tick 3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Expressions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Casting, / and %, ternary, GST maths</a:t>
            </a:r>
            <a:endParaRPr lang="en-US" sz="1400" dirty="0"/>
          </a:p>
        </p:txBody>
      </p:sp>
      <p:sp>
        <p:nvSpPr>
          <p:cNvPr id="19" name="Summary Input / Output"/>
          <p:cNvSpPr/>
          <p:nvPr/>
        </p:nvSpPr>
        <p:spPr>
          <a:xfrm>
            <a:off x="4663440" y="2194560"/>
            <a:ext cx="40233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20" name="Tick 4"/>
          <p:cNvSpPr/>
          <p:nvPr/>
        </p:nvSpPr>
        <p:spPr>
          <a:xfrm>
            <a:off x="4846320" y="24414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/ Output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in, printf receipt out</a:t>
            </a:r>
            <a:endParaRPr lang="en-US" sz="1400" dirty="0"/>
          </a:p>
        </p:txBody>
      </p:sp>
      <p:sp>
        <p:nvSpPr>
          <p:cNvPr id="24" name="Repo card"/>
          <p:cNvSpPr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3B2412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85800" y="34564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outcomes build on this base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76732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(CO2), methods and arrays (CO3), exceptions (CO4), constructors and polymorphism (CO5), project quality and deployment (CO6).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4224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100" u="sng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Open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https://github.com/avisajoses8-sketch/KLHB-FED-26-15-17Multi-Level-Parking-Lot-Manage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(11 commits)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m Brown Gold">
  <a:themeElements>
    <a:clrScheme name="Cream Brown Gold">
      <a:dk1>
        <a:srgbClr val="3B2412"/>
      </a:dk1>
      <a:lt1>
        <a:srgbClr val="FBF5E6"/>
      </a:lt1>
      <a:dk2>
        <a:srgbClr val="6B4423"/>
      </a:dk2>
      <a:lt2>
        <a:srgbClr val="F0E4C8"/>
      </a:lt2>
      <a:accent1>
        <a:srgbClr val="B8860B"/>
      </a:accent1>
      <a:accent2>
        <a:srgbClr val="8B5A2B"/>
      </a:accent2>
      <a:accent3>
        <a:srgbClr val="D4AF37"/>
      </a:accent3>
      <a:accent4>
        <a:srgbClr val="A0522D"/>
      </a:accent4>
      <a:accent5>
        <a:srgbClr val="5C3D1E"/>
      </a:accent5>
      <a:accent6>
        <a:srgbClr val="E6D3A3"/>
      </a:accent6>
      <a:hlink>
        <a:srgbClr val="B8860B"/>
      </a:hlink>
      <a:folHlink>
        <a:srgbClr val="8B5A2B"/>
      </a:folHlink>
    </a:clrScheme>
    <a:fontScheme name="Cream Brown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CO1 - From Problem to Program - Multi-Level Parking Lot Manage</dc:title>
  <dc:subject>PptxGenJS Presentation</dc:subject>
  <dc:creator>Team 17</dc:creator>
  <cp:lastModifiedBy>Team 17</cp:lastModifiedBy>
  <cp:revision>1</cp:revision>
  <dcterms:created xsi:type="dcterms:W3CDTF">2026-10-15T16:01:06Z</dcterms:created>
  <dcterms:modified xsi:type="dcterms:W3CDTF">2026-10-15T16:01:06Z</dcterms:modified>
</cp:coreProperties>
</file>